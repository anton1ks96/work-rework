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2" r:id="rId2"/>
    <p:sldId id="257" r:id="rId3"/>
    <p:sldId id="258" r:id="rId4"/>
    <p:sldId id="261" r:id="rId5"/>
    <p:sldId id="259" r:id="rId6"/>
    <p:sldId id="260" r:id="rId7"/>
    <p:sldId id="263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897B"/>
    <a:srgbClr val="12345E"/>
    <a:srgbClr val="F1D79E"/>
    <a:srgbClr val="C89C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374" autoAdjust="0"/>
  </p:normalViewPr>
  <p:slideViewPr>
    <p:cSldViewPr snapToGrid="0">
      <p:cViewPr varScale="1">
        <p:scale>
          <a:sx n="80" d="100"/>
          <a:sy n="80" d="100"/>
        </p:scale>
        <p:origin x="351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7FFD1C-443A-4FD1-9041-3053442FC8ED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AD71DD-CAEA-4AC3-A44A-DE733B523D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5175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AD71DD-CAEA-4AC3-A44A-DE733B523D0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8301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AD71DD-CAEA-4AC3-A44A-DE733B523D0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4504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AD71DD-CAEA-4AC3-A44A-DE733B523D0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6808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565B32-FE3E-E8FE-D7F0-D580773099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C722F56-2EB0-EA57-A697-BEF3E07F8F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BD1EB0-CF09-83D2-EE18-0DD093923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F6FC0-D59B-4A9B-9E52-4F0009E0BB7D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0BBEDF-B18E-05D0-6DBF-968E573B1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37E7C8-C65C-DAE4-F4F3-769AB2EA3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2B0A1-34FA-4E28-981E-4D0335E859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3985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367FE4-2635-40DD-6FF1-59B308F12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4F0293-5023-E75F-C670-B7E75841A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FBDD1C-87B4-DA0F-F918-75742E07D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F6FC0-D59B-4A9B-9E52-4F0009E0BB7D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246C39-D704-50B7-4D5D-4D6751E31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FD91AB-67B1-5CF1-9029-DF49D11AB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2B0A1-34FA-4E28-981E-4D0335E859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9715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EEB3B6-E766-0142-F00B-5B76BD932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DAFD785-F2C4-0B84-29C7-A0C39B0BD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437DA3-9C95-D6F8-0362-3B1F26814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F6FC0-D59B-4A9B-9E52-4F0009E0BB7D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0265ED-F956-A7E6-F8E7-CC84AC818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F45D29A-20D8-8CBF-8990-F5BC340F0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2B0A1-34FA-4E28-981E-4D0335E859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2158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B9191-F162-80E1-5994-5C31136F8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9864C2-9806-43C8-5660-62A808CD11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B2F1691-688C-D846-D5C3-B1A9FE9B5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3AA46EF-3BB4-FD2D-52EA-F17AAB2D9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F6FC0-D59B-4A9B-9E52-4F0009E0BB7D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1A12243-15F6-079A-6B0C-155356C88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2A98897-4F67-C3EA-BEFB-DCACF09D0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2B0A1-34FA-4E28-981E-4D0335E859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029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637F19-FF92-622C-CFD3-64253D26A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56BBE28-28CB-B49D-8373-DA7F8DB5B4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2FAAB24-38E8-93B6-3BA2-4A71E95D07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815420B-04F6-8FF5-DAD5-A55EC33718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D5C1765-1F15-B43B-45E7-C77BB31B38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0D053E8-E709-D5BD-F4DF-79732DD25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F6FC0-D59B-4A9B-9E52-4F0009E0BB7D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A90648F-97E6-2E37-FA94-14152BA3A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0A9FA47-DA9C-3FB8-5BC9-0FBD589F5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2B0A1-34FA-4E28-981E-4D0335E859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570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1FFA3B-5317-38DA-3F6A-99385C120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332AC65-7649-E180-6757-1DCBEBE06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F6FC0-D59B-4A9B-9E52-4F0009E0BB7D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6DDA47D-18E0-997C-4A11-43F4CFB69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5B61C98-D505-BBB9-FFCF-21D59B21D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2B0A1-34FA-4E28-981E-4D0335E859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2618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21F34AE-A992-55FD-46C2-A986DB3EF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F6FC0-D59B-4A9B-9E52-4F0009E0BB7D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1990D81-C00E-2639-03FA-EE9A481F2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D73DB6-033E-4361-27B1-C90A679A5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2B0A1-34FA-4E28-981E-4D0335E859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7455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1EDF7F-7E47-00A6-C959-3BFB797F2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5A2D26-C937-57FC-BA30-993D4DFBE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FCA10F1-4DE5-B04B-5332-303FAA474D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21BEB94-CC54-9989-AC25-0E412618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F6FC0-D59B-4A9B-9E52-4F0009E0BB7D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1EB66A3-9703-1B4C-3C95-92F6D0355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E8CFF6-018A-442B-F83D-8E8DE715C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2B0A1-34FA-4E28-981E-4D0335E859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1798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189A74-1A40-AA62-B3B2-72F89619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28F83F1-8737-02A4-EBDB-89CEAD228E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B216507-A0F2-1D7F-DA59-488922E12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5EBA781-BAB8-78FC-5B32-D93293E9C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F6FC0-D59B-4A9B-9E52-4F0009E0BB7D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C602FC1-BA9C-A249-ABEF-CBB5A75BF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D78CB37-C0DF-FB46-3D5A-12BC4E61B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2B0A1-34FA-4E28-981E-4D0335E859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7187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AF096A-B2A9-DAB8-F2B4-90A87ECED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3FE1547-D25B-E06D-6523-5200F66977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1850A62-7FE5-AD94-4071-93DA9C25A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F6FC0-D59B-4A9B-9E52-4F0009E0BB7D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6068AC-7C46-FF83-B3A1-27E37A2BA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BDB91B-D88D-4631-CA6E-2BB51CDD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2B0A1-34FA-4E28-981E-4D0335E859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1150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D7388CE-158F-6B0D-D69A-CE117F4081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6CEC940-5E9D-3588-75F8-8DAF67900F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91C45C-9268-E5A6-2113-533B3FA8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F6FC0-D59B-4A9B-9E52-4F0009E0BB7D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A46961-4DF2-055E-C08B-A614A6183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7A26AC-E5CA-3EF3-D2A4-4A78B55D7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2B0A1-34FA-4E28-981E-4D0335E859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058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6818F2-DDA7-F605-D855-56F432513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8443915-0AFF-0E85-54EE-AFDA8712B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5D2A17-7BF8-D53A-D4F5-B46D28EA9D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0F6FC0-D59B-4A9B-9E52-4F0009E0BB7D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C9995C-D0AA-4CAC-61FF-736E40FA97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423903-1ED8-55DF-C47D-A0D7D6BC63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42B0A1-34FA-4E28-981E-4D0335E859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1442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6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4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5EE66-6FAE-580D-E1FF-DD7F1225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Picture background">
            <a:extLst>
              <a:ext uri="{FF2B5EF4-FFF2-40B4-BE49-F238E27FC236}">
                <a16:creationId xmlns:a16="http://schemas.microsoft.com/office/drawing/2014/main" id="{0544CDC5-C785-59DE-D0D6-BBD2B471B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" y="0"/>
            <a:ext cx="1219200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2C2F5E17-6EEF-85BB-EA64-0F0C7552E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2340" y="4078171"/>
            <a:ext cx="3808606" cy="2149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BDB03AB-DF3A-7B7C-2A31-BD6498F60633}"/>
              </a:ext>
            </a:extLst>
          </p:cNvPr>
          <p:cNvSpPr/>
          <p:nvPr/>
        </p:nvSpPr>
        <p:spPr>
          <a:xfrm>
            <a:off x="-1" y="0"/>
            <a:ext cx="7405255" cy="6858000"/>
          </a:xfrm>
          <a:prstGeom prst="rect">
            <a:avLst/>
          </a:prstGeom>
          <a:gradFill>
            <a:gsLst>
              <a:gs pos="0">
                <a:srgbClr val="12345E"/>
              </a:gs>
              <a:gs pos="100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6029F7-7B24-E46C-EBCD-D2AF430D6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Autofit/>
          </a:bodyPr>
          <a:lstStyle/>
          <a:p>
            <a:r>
              <a:rPr lang="ru-RU" sz="9600" dirty="0">
                <a:solidFill>
                  <a:schemeClr val="bg1"/>
                </a:solidFill>
                <a:latin typeface="Bahnschrift SemiBold" panose="020B0502040204020203" pitchFamily="34" charset="0"/>
                <a:cs typeface="Cascadia Code SemiBold" panose="020B0609020000020004" pitchFamily="49" charset="0"/>
              </a:rPr>
              <a:t>0</a:t>
            </a:r>
            <a:r>
              <a:rPr lang="en-US" sz="8800" dirty="0">
                <a:solidFill>
                  <a:schemeClr val="bg1"/>
                </a:solidFill>
                <a:latin typeface="Bahnschrift SemiBold" panose="020B0502040204020203" pitchFamily="34" charset="0"/>
                <a:cs typeface="Cascadia Code SemiBold" panose="020B0609020000020004" pitchFamily="49" charset="0"/>
              </a:rPr>
              <a:t>.</a:t>
            </a:r>
            <a:r>
              <a:rPr lang="ru-RU" sz="8800" dirty="0">
                <a:solidFill>
                  <a:schemeClr val="bg1"/>
                </a:solidFill>
                <a:latin typeface="Bahnschrift SemiBold" panose="020B0502040204020203" pitchFamily="34" charset="0"/>
                <a:cs typeface="Cascadia Code SemiBold" panose="020B0609020000020004" pitchFamily="49" charset="0"/>
              </a:rPr>
              <a:t> Фото космоса</a:t>
            </a:r>
            <a:endParaRPr lang="ru-RU" sz="9600" dirty="0">
              <a:solidFill>
                <a:schemeClr val="bg1"/>
              </a:solidFill>
              <a:latin typeface="Bahnschrift SemiBold" panose="020B0502040204020203" pitchFamily="34" charset="0"/>
              <a:cs typeface="Cascadia Code SemiBold" panose="020B0609020000020004" pitchFamily="49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E07F95-A88D-5A56-F0C3-7332F2F7B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25563"/>
            <a:ext cx="4859547" cy="4351338"/>
          </a:xfrm>
        </p:spPr>
        <p:txBody>
          <a:bodyPr/>
          <a:lstStyle/>
          <a:p>
            <a:pPr marL="0" indent="0">
              <a:buNone/>
            </a:pPr>
            <a:r>
              <a:rPr lang="ru-RU" sz="2400" b="1" kern="100" dirty="0">
                <a:solidFill>
                  <a:schemeClr val="bg1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  </a:t>
            </a:r>
            <a:r>
              <a:rPr lang="ru-RU" sz="2400" b="1" kern="100" dirty="0" err="1">
                <a:solidFill>
                  <a:schemeClr val="bg1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Кулясов</a:t>
            </a:r>
            <a:r>
              <a:rPr lang="ru-RU" sz="2400" b="1" kern="100" dirty="0">
                <a:solidFill>
                  <a:schemeClr val="bg1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 Роман 24-12</a:t>
            </a:r>
            <a:endParaRPr lang="ru-RU" sz="2400" b="1" kern="100" dirty="0">
              <a:solidFill>
                <a:schemeClr val="bg1"/>
              </a:solidFill>
              <a:effectLst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296AFCC-267F-B174-5901-5E78A5397D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6067" y="4078170"/>
            <a:ext cx="3808606" cy="2183774"/>
          </a:xfrm>
          <a:prstGeom prst="rect">
            <a:avLst/>
          </a:prstGeom>
        </p:spPr>
      </p:pic>
      <p:pic>
        <p:nvPicPr>
          <p:cNvPr id="1032" name="Picture 8" descr="Picture background">
            <a:extLst>
              <a:ext uri="{FF2B5EF4-FFF2-40B4-BE49-F238E27FC236}">
                <a16:creationId xmlns:a16="http://schemas.microsoft.com/office/drawing/2014/main" id="{9686F80E-946A-3B8E-931F-B877DB2B8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60690" y="4044178"/>
            <a:ext cx="3237805" cy="2183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Picture background">
            <a:extLst>
              <a:ext uri="{FF2B5EF4-FFF2-40B4-BE49-F238E27FC236}">
                <a16:creationId xmlns:a16="http://schemas.microsoft.com/office/drawing/2014/main" id="{173B33E6-8A47-6519-4E3D-5BB76ADF4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75727" y="4044178"/>
            <a:ext cx="3948545" cy="2217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7130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Picture background">
            <a:extLst>
              <a:ext uri="{FF2B5EF4-FFF2-40B4-BE49-F238E27FC236}">
                <a16:creationId xmlns:a16="http://schemas.microsoft.com/office/drawing/2014/main" id="{546861D1-E41D-85C0-B969-C885BC7764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" y="0"/>
            <a:ext cx="1219200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45C13706-2E15-E521-DF53-4E84757F65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045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84E9741-F82C-1876-C7A0-FB853F7E50DC}"/>
              </a:ext>
            </a:extLst>
          </p:cNvPr>
          <p:cNvSpPr/>
          <p:nvPr/>
        </p:nvSpPr>
        <p:spPr>
          <a:xfrm>
            <a:off x="-1" y="0"/>
            <a:ext cx="7405255" cy="6858000"/>
          </a:xfrm>
          <a:prstGeom prst="rect">
            <a:avLst/>
          </a:prstGeom>
          <a:gradFill>
            <a:gsLst>
              <a:gs pos="0">
                <a:srgbClr val="12345E"/>
              </a:gs>
              <a:gs pos="100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C6C290-9B27-8AD2-E726-97AA25BFD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Autofit/>
          </a:bodyPr>
          <a:lstStyle/>
          <a:p>
            <a:r>
              <a:rPr lang="ru-RU" sz="9600" dirty="0">
                <a:solidFill>
                  <a:schemeClr val="bg1"/>
                </a:solidFill>
                <a:latin typeface="Bahnschrift SemiBold" panose="020B0502040204020203" pitchFamily="34" charset="0"/>
                <a:cs typeface="Cascadia Code SemiBold" panose="020B0609020000020004" pitchFamily="49" charset="0"/>
              </a:rPr>
              <a:t>1</a:t>
            </a:r>
            <a:r>
              <a:rPr lang="en-US" sz="8800" dirty="0">
                <a:solidFill>
                  <a:schemeClr val="bg1"/>
                </a:solidFill>
                <a:latin typeface="Bahnschrift SemiBold" panose="020B0502040204020203" pitchFamily="34" charset="0"/>
                <a:cs typeface="Cascadia Code SemiBold" panose="020B0609020000020004" pitchFamily="49" charset="0"/>
              </a:rPr>
              <a:t>.</a:t>
            </a:r>
            <a:r>
              <a:rPr lang="ru-RU" sz="8800" dirty="0">
                <a:solidFill>
                  <a:schemeClr val="bg1"/>
                </a:solidFill>
                <a:latin typeface="Bahnschrift SemiBold" panose="020B0502040204020203" pitchFamily="34" charset="0"/>
                <a:cs typeface="Cascadia Code SemiBold" panose="020B0609020000020004" pitchFamily="49" charset="0"/>
              </a:rPr>
              <a:t> Спектр</a:t>
            </a:r>
            <a:endParaRPr lang="ru-RU" sz="9600" dirty="0">
              <a:solidFill>
                <a:schemeClr val="bg1"/>
              </a:solidFill>
              <a:latin typeface="Bahnschrift SemiBold" panose="020B0502040204020203" pitchFamily="34" charset="0"/>
              <a:cs typeface="Cascadia Code SemiBold" panose="020B0609020000020004" pitchFamily="49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7B8F08-53D1-9072-276A-A59288888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25563"/>
            <a:ext cx="4859547" cy="4351338"/>
          </a:xfrm>
        </p:spPr>
        <p:txBody>
          <a:bodyPr/>
          <a:lstStyle/>
          <a:p>
            <a:pPr marL="0" indent="0">
              <a:buNone/>
            </a:pPr>
            <a:r>
              <a:rPr lang="ru-RU" kern="100" dirty="0">
                <a:solidFill>
                  <a:schemeClr val="bg1"/>
                </a:solidFill>
                <a:effectLst/>
                <a:ea typeface="Calibri Light" panose="020F0302020204030204" pitchFamily="34" charset="0"/>
                <a:cs typeface="Calibri Light" panose="020F0302020204030204" pitchFamily="34" charset="0"/>
              </a:rPr>
              <a:t>Вы видели эти красивые цветные фотографии галактик                          и космических туманностей?        Всё это конечно очень красиво но не соответствует реальности. Там нет ни синего ни красного цвета                  тем более таких ярких цветов.</a:t>
            </a:r>
          </a:p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55726E2-473E-2A70-1614-64520F1CB6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4324" y="3993190"/>
            <a:ext cx="3808606" cy="2183774"/>
          </a:xfrm>
          <a:prstGeom prst="rect">
            <a:avLst/>
          </a:prstGeom>
        </p:spPr>
      </p:pic>
      <p:pic>
        <p:nvPicPr>
          <p:cNvPr id="1032" name="Picture 8" descr="Picture background">
            <a:extLst>
              <a:ext uri="{FF2B5EF4-FFF2-40B4-BE49-F238E27FC236}">
                <a16:creationId xmlns:a16="http://schemas.microsoft.com/office/drawing/2014/main" id="{82EED620-ACF1-1590-4B0B-1DBFC39D2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7126" y="3993190"/>
            <a:ext cx="3237805" cy="2183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Picture background">
            <a:extLst>
              <a:ext uri="{FF2B5EF4-FFF2-40B4-BE49-F238E27FC236}">
                <a16:creationId xmlns:a16="http://schemas.microsoft.com/office/drawing/2014/main" id="{E37D6103-5B57-36F8-D14F-D4C6A6999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79035" y="3976194"/>
            <a:ext cx="3948545" cy="2217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3705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3909D-B876-28F0-8D85-7BF11D6E7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77F5F46F-9523-3713-ED94-CCE764084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65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9392EEC-5EE3-EA4E-533D-227534E8A4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981" y="-90055"/>
            <a:ext cx="12344400" cy="7051964"/>
          </a:xfrm>
          <a:prstGeom prst="rect">
            <a:avLst/>
          </a:prstGeom>
          <a:ln>
            <a:noFill/>
          </a:ln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E021D34-0F5F-BAD7-013D-08D241B2DA4B}"/>
              </a:ext>
            </a:extLst>
          </p:cNvPr>
          <p:cNvSpPr/>
          <p:nvPr/>
        </p:nvSpPr>
        <p:spPr>
          <a:xfrm>
            <a:off x="0" y="-90055"/>
            <a:ext cx="7405255" cy="6955100"/>
          </a:xfrm>
          <a:prstGeom prst="rect">
            <a:avLst/>
          </a:prstGeom>
          <a:gradFill>
            <a:gsLst>
              <a:gs pos="0">
                <a:srgbClr val="12345E"/>
              </a:gs>
              <a:gs pos="100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Picture 8" descr="Picture background">
            <a:extLst>
              <a:ext uri="{FF2B5EF4-FFF2-40B4-BE49-F238E27FC236}">
                <a16:creationId xmlns:a16="http://schemas.microsoft.com/office/drawing/2014/main" id="{F6E2F718-EBD4-6FB4-726A-AAF441A88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01885" y="4039228"/>
            <a:ext cx="3237805" cy="2183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icture background">
            <a:extLst>
              <a:ext uri="{FF2B5EF4-FFF2-40B4-BE49-F238E27FC236}">
                <a16:creationId xmlns:a16="http://schemas.microsoft.com/office/drawing/2014/main" id="{CDC91A1D-40DA-ACB6-386D-DC62C4C58E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0745" y="4039228"/>
            <a:ext cx="3994294" cy="2386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icture background">
            <a:extLst>
              <a:ext uri="{FF2B5EF4-FFF2-40B4-BE49-F238E27FC236}">
                <a16:creationId xmlns:a16="http://schemas.microsoft.com/office/drawing/2014/main" id="{420FDCBD-52A7-29CA-A7B9-4FF0280337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9545" y="4022232"/>
            <a:ext cx="3948545" cy="2217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493E79-1AB6-DE5C-91C2-1B63269DA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Autofit/>
          </a:bodyPr>
          <a:lstStyle/>
          <a:p>
            <a:r>
              <a:rPr lang="ru-RU" sz="9600" dirty="0">
                <a:solidFill>
                  <a:schemeClr val="bg1"/>
                </a:solidFill>
                <a:latin typeface="Bahnschrift SemiBold" panose="020B0502040204020203" pitchFamily="34" charset="0"/>
                <a:cs typeface="Cascadia Code SemiBold" panose="020B0609020000020004" pitchFamily="49" charset="0"/>
              </a:rPr>
              <a:t>1</a:t>
            </a:r>
            <a:r>
              <a:rPr lang="en-US" sz="8800" dirty="0">
                <a:solidFill>
                  <a:schemeClr val="bg1"/>
                </a:solidFill>
                <a:latin typeface="Bahnschrift SemiBold" panose="020B0502040204020203" pitchFamily="34" charset="0"/>
                <a:cs typeface="Cascadia Code SemiBold" panose="020B0609020000020004" pitchFamily="49" charset="0"/>
              </a:rPr>
              <a:t>.</a:t>
            </a:r>
            <a:r>
              <a:rPr lang="ru-RU" sz="8800" dirty="0">
                <a:solidFill>
                  <a:schemeClr val="bg1"/>
                </a:solidFill>
                <a:latin typeface="Bahnschrift SemiBold" panose="020B0502040204020203" pitchFamily="34" charset="0"/>
                <a:cs typeface="Cascadia Code SemiBold" panose="020B0609020000020004" pitchFamily="49" charset="0"/>
              </a:rPr>
              <a:t> Спектр</a:t>
            </a:r>
            <a:endParaRPr lang="ru-RU" sz="9600" dirty="0">
              <a:solidFill>
                <a:schemeClr val="bg1"/>
              </a:solidFill>
              <a:latin typeface="Bahnschrift SemiBold" panose="020B0502040204020203" pitchFamily="34" charset="0"/>
              <a:cs typeface="Cascadia Code SemiBold" panose="020B0609020000020004" pitchFamily="49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3C390E-DE09-554B-26B0-50B0C3C3C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25563"/>
            <a:ext cx="5465618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</a:rPr>
              <a:t>Снимки делаются в разных </a:t>
            </a:r>
            <a:r>
              <a:rPr lang="ru-RU" dirty="0" err="1">
                <a:solidFill>
                  <a:schemeClr val="bg1"/>
                </a:solidFill>
              </a:rPr>
              <a:t>спекторах</a:t>
            </a:r>
            <a:r>
              <a:rPr lang="ru-RU" dirty="0">
                <a:solidFill>
                  <a:schemeClr val="bg1"/>
                </a:solidFill>
              </a:rPr>
              <a:t> а после дополнительно раскрашиваются, в результате    мы получаем невероятные кадры жалко что своими глазами          мы никогда их не увидим.</a:t>
            </a:r>
          </a:p>
        </p:txBody>
      </p:sp>
    </p:spTree>
    <p:extLst>
      <p:ext uri="{BB962C8B-B14F-4D97-AF65-F5344CB8AC3E}">
        <p14:creationId xmlns:p14="http://schemas.microsoft.com/office/powerpoint/2010/main" val="910070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2C91F-D710-334C-29FA-416F275AD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9AB08B4-F47E-9840-09F7-F41522F485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-24750"/>
            <a:ext cx="12344400" cy="7051964"/>
          </a:xfrm>
          <a:prstGeom prst="rect">
            <a:avLst/>
          </a:prstGeom>
          <a:ln>
            <a:noFill/>
          </a:ln>
        </p:spPr>
      </p:pic>
      <p:pic>
        <p:nvPicPr>
          <p:cNvPr id="8" name="Picture 6" descr="Picture background">
            <a:extLst>
              <a:ext uri="{FF2B5EF4-FFF2-40B4-BE49-F238E27FC236}">
                <a16:creationId xmlns:a16="http://schemas.microsoft.com/office/drawing/2014/main" id="{A8265A97-26E9-3A72-5056-D33A4B70C1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41" y="-152246"/>
            <a:ext cx="13009418" cy="7306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456CBD7-3CFD-20CC-7658-CC22E810BA04}"/>
              </a:ext>
            </a:extLst>
          </p:cNvPr>
          <p:cNvSpPr/>
          <p:nvPr/>
        </p:nvSpPr>
        <p:spPr>
          <a:xfrm>
            <a:off x="-76201" y="0"/>
            <a:ext cx="6524813" cy="6955100"/>
          </a:xfrm>
          <a:prstGeom prst="rect">
            <a:avLst/>
          </a:prstGeom>
          <a:gradFill>
            <a:gsLst>
              <a:gs pos="0">
                <a:srgbClr val="12345E"/>
              </a:gs>
              <a:gs pos="100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Picture 8" descr="Picture background">
            <a:extLst>
              <a:ext uri="{FF2B5EF4-FFF2-40B4-BE49-F238E27FC236}">
                <a16:creationId xmlns:a16="http://schemas.microsoft.com/office/drawing/2014/main" id="{3500EFBC-21EF-322D-7E99-033A8D919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7685" y="4090172"/>
            <a:ext cx="3237805" cy="2183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icture background">
            <a:extLst>
              <a:ext uri="{FF2B5EF4-FFF2-40B4-BE49-F238E27FC236}">
                <a16:creationId xmlns:a16="http://schemas.microsoft.com/office/drawing/2014/main" id="{EC509F3A-D410-9851-973F-802B930B61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53146" y="4090172"/>
            <a:ext cx="3994294" cy="2386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0DF5F5-28BD-246D-3631-DA704788A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Autofit/>
          </a:bodyPr>
          <a:lstStyle/>
          <a:p>
            <a:r>
              <a:rPr lang="ru-RU" sz="9600" dirty="0">
                <a:solidFill>
                  <a:schemeClr val="bg1"/>
                </a:solidFill>
                <a:latin typeface="Bahnschrift SemiBold" panose="020B0502040204020203" pitchFamily="34" charset="0"/>
                <a:cs typeface="Cascadia Code SemiBold" panose="020B0609020000020004" pitchFamily="49" charset="0"/>
              </a:rPr>
              <a:t>2</a:t>
            </a:r>
            <a:r>
              <a:rPr lang="en-US" sz="8800" dirty="0">
                <a:solidFill>
                  <a:schemeClr val="bg1"/>
                </a:solidFill>
                <a:latin typeface="Bahnschrift SemiBold" panose="020B0502040204020203" pitchFamily="34" charset="0"/>
                <a:cs typeface="Cascadia Code SemiBold" panose="020B0609020000020004" pitchFamily="49" charset="0"/>
              </a:rPr>
              <a:t>.</a:t>
            </a:r>
            <a:r>
              <a:rPr lang="ru-RU" sz="8800" dirty="0">
                <a:solidFill>
                  <a:schemeClr val="bg1"/>
                </a:solidFill>
                <a:latin typeface="Bahnschrift SemiBold" panose="020B0502040204020203" pitchFamily="34" charset="0"/>
                <a:cs typeface="Cascadia Code SemiBold" panose="020B0609020000020004" pitchFamily="49" charset="0"/>
              </a:rPr>
              <a:t> Черная дыра</a:t>
            </a:r>
            <a:endParaRPr lang="ru-RU" sz="9600" dirty="0">
              <a:solidFill>
                <a:schemeClr val="bg1"/>
              </a:solidFill>
              <a:latin typeface="Bahnschrift SemiBold" panose="020B0502040204020203" pitchFamily="34" charset="0"/>
              <a:cs typeface="Cascadia Code SemiBold" panose="020B0609020000020004" pitchFamily="49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A81484-D45D-7A62-8AC3-44C4FD5B5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25563"/>
            <a:ext cx="5465618" cy="46318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0" i="0" dirty="0">
                <a:solidFill>
                  <a:schemeClr val="bg1"/>
                </a:solidFill>
                <a:effectLst/>
                <a:latin typeface="Inter"/>
              </a:rPr>
              <a:t>Как выглядит черная дыра              в реальности, доподлинно неизвестно. Художники создавали работы, основываясь на домыслах астрофизиков. Пока в 2019           не появилось первое фото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Inter"/>
              </a:rPr>
              <a:t>чернои</a:t>
            </a:r>
            <a:r>
              <a:rPr lang="ru-RU" b="0" i="0" dirty="0">
                <a:solidFill>
                  <a:schemeClr val="bg1"/>
                </a:solidFill>
                <a:effectLst/>
                <a:latin typeface="Inter"/>
              </a:rPr>
              <a:t>̆ дыры.</a:t>
            </a:r>
            <a:r>
              <a:rPr lang="ru-RU" b="0" i="0" dirty="0">
                <a:solidFill>
                  <a:srgbClr val="2C2D2E"/>
                </a:solidFill>
                <a:effectLst/>
                <a:latin typeface="Inter"/>
              </a:rPr>
              <a:t> </a:t>
            </a:r>
            <a:r>
              <a:rPr lang="ru-RU" b="0" i="0" dirty="0">
                <a:solidFill>
                  <a:schemeClr val="bg1"/>
                </a:solidFill>
                <a:effectLst/>
                <a:latin typeface="Inter"/>
              </a:rPr>
              <a:t>На самом деле, черная дыра совсем не воронка, а темная сфера в окружении аккреционного диска из газа. Газ, в свою очередь, падает на сферу.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7843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1D4A9-CEFD-DC1A-40EC-D5E4F62D9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Picture background">
            <a:extLst>
              <a:ext uri="{FF2B5EF4-FFF2-40B4-BE49-F238E27FC236}">
                <a16:creationId xmlns:a16="http://schemas.microsoft.com/office/drawing/2014/main" id="{F3493DD2-58AF-E74B-714A-3D3410F50C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-152246"/>
            <a:ext cx="13009418" cy="7306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Picture background">
            <a:extLst>
              <a:ext uri="{FF2B5EF4-FFF2-40B4-BE49-F238E27FC236}">
                <a16:creationId xmlns:a16="http://schemas.microsoft.com/office/drawing/2014/main" id="{20848AA6-A20A-DF21-6C0F-690A71D90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-448525"/>
            <a:ext cx="13113327" cy="8065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9684828-541A-B365-FF0A-35058A367392}"/>
              </a:ext>
            </a:extLst>
          </p:cNvPr>
          <p:cNvSpPr/>
          <p:nvPr/>
        </p:nvSpPr>
        <p:spPr>
          <a:xfrm>
            <a:off x="0" y="-118"/>
            <a:ext cx="7405255" cy="6955100"/>
          </a:xfrm>
          <a:prstGeom prst="rect">
            <a:avLst/>
          </a:prstGeom>
          <a:gradFill>
            <a:gsLst>
              <a:gs pos="0">
                <a:srgbClr val="12345E"/>
              </a:gs>
              <a:gs pos="100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4CC589-7F2E-F8E1-73FE-FE9C426DD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25563"/>
            <a:ext cx="5465618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Еще очень </a:t>
            </a:r>
            <a:r>
              <a:rPr lang="ru-RU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интерестно</a:t>
            </a:r>
            <a:r>
              <a:rPr lang="ru-RU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               что Солнце не желтое,                 оно излучает во всех диапазонах видимого спектра                              и за его пределами. Поэтому         в видимом спектре солнечный свет белый, а желтоватый оттенок ему придает земная атмосфера. 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C78237-DBF6-62D8-4EC1-66495FB5B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Autofit/>
          </a:bodyPr>
          <a:lstStyle/>
          <a:p>
            <a:r>
              <a:rPr lang="ru-RU" sz="9600" dirty="0">
                <a:solidFill>
                  <a:schemeClr val="bg1"/>
                </a:solidFill>
                <a:latin typeface="Bahnschrift SemiBold" panose="020B0502040204020203" pitchFamily="34" charset="0"/>
                <a:cs typeface="Cascadia Code SemiBold" panose="020B0609020000020004" pitchFamily="49" charset="0"/>
              </a:rPr>
              <a:t>3. Солнце</a:t>
            </a:r>
          </a:p>
        </p:txBody>
      </p:sp>
      <p:pic>
        <p:nvPicPr>
          <p:cNvPr id="7" name="Picture 4" descr="Picture background">
            <a:extLst>
              <a:ext uri="{FF2B5EF4-FFF2-40B4-BE49-F238E27FC236}">
                <a16:creationId xmlns:a16="http://schemas.microsoft.com/office/drawing/2014/main" id="{C679E990-DFCE-7363-7EEF-D45951C10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1255" y="4140909"/>
            <a:ext cx="3994294" cy="2386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Picture background">
            <a:extLst>
              <a:ext uri="{FF2B5EF4-FFF2-40B4-BE49-F238E27FC236}">
                <a16:creationId xmlns:a16="http://schemas.microsoft.com/office/drawing/2014/main" id="{A6143060-8D61-5AB4-51FE-C4723DFEA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313" y="4140909"/>
            <a:ext cx="3941618" cy="2956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44294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48681-E33A-F57D-74FD-DB2172797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" descr="Picture background">
            <a:extLst>
              <a:ext uri="{FF2B5EF4-FFF2-40B4-BE49-F238E27FC236}">
                <a16:creationId xmlns:a16="http://schemas.microsoft.com/office/drawing/2014/main" id="{1E6B7D4A-CAD9-DED4-5C7D-CB1332CC29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8655" y="-607761"/>
            <a:ext cx="12607637" cy="8073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Picture background">
            <a:extLst>
              <a:ext uri="{FF2B5EF4-FFF2-40B4-BE49-F238E27FC236}">
                <a16:creationId xmlns:a16="http://schemas.microsoft.com/office/drawing/2014/main" id="{06E8FC42-EAE0-82A6-61B4-8532B6C83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0445" y="-275004"/>
            <a:ext cx="12420600" cy="7552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BC93F49-D23E-A9C2-5367-2197A1459060}"/>
              </a:ext>
            </a:extLst>
          </p:cNvPr>
          <p:cNvSpPr/>
          <p:nvPr/>
        </p:nvSpPr>
        <p:spPr>
          <a:xfrm>
            <a:off x="0" y="0"/>
            <a:ext cx="7405255" cy="6955100"/>
          </a:xfrm>
          <a:prstGeom prst="rect">
            <a:avLst/>
          </a:prstGeom>
          <a:gradFill>
            <a:gsLst>
              <a:gs pos="0">
                <a:srgbClr val="12345E"/>
              </a:gs>
              <a:gs pos="100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1BEC2E-522C-8AA5-FC4F-B4624F387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325563"/>
            <a:ext cx="5521345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Длины волн света в синей части спектра намного короче, чем         </a:t>
            </a:r>
            <a:r>
              <a:rPr lang="ru-RU" kern="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 красной, поэтому они чаще сталкиваются с частицами               в атмосфере. В течение дня синий свет рассеивается высоко                в атмосфере, придавая небу голубой цвет, а солнце кажется желтым. 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B22DC2-0618-52BD-8B23-89079C2C3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Autofit/>
          </a:bodyPr>
          <a:lstStyle/>
          <a:p>
            <a:r>
              <a:rPr lang="ru-RU" sz="9600" dirty="0">
                <a:solidFill>
                  <a:schemeClr val="bg1"/>
                </a:solidFill>
                <a:latin typeface="Bahnschrift SemiBold" panose="020B0502040204020203" pitchFamily="34" charset="0"/>
                <a:cs typeface="Cascadia Code SemiBold" panose="020B0609020000020004" pitchFamily="49" charset="0"/>
              </a:rPr>
              <a:t>3. Солнце</a:t>
            </a:r>
          </a:p>
        </p:txBody>
      </p:sp>
      <p:pic>
        <p:nvPicPr>
          <p:cNvPr id="7" name="Picture 4" descr="Picture background">
            <a:extLst>
              <a:ext uri="{FF2B5EF4-FFF2-40B4-BE49-F238E27FC236}">
                <a16:creationId xmlns:a16="http://schemas.microsoft.com/office/drawing/2014/main" id="{7EFC5576-FD75-2EA7-EB42-877B21D2E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4713" y="4133982"/>
            <a:ext cx="3941618" cy="2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45124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Picture background">
            <a:extLst>
              <a:ext uri="{FF2B5EF4-FFF2-40B4-BE49-F238E27FC236}">
                <a16:creationId xmlns:a16="http://schemas.microsoft.com/office/drawing/2014/main" id="{46D12A3E-1B50-CF45-4BF4-D3AA6A950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0445" y="-275004"/>
            <a:ext cx="12420600" cy="7552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1F1B47-8585-0236-89BA-975354067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45ABAF-0B34-F5DE-D7B6-2F93FEDAD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Picture 4" descr="Picture background">
            <a:extLst>
              <a:ext uri="{FF2B5EF4-FFF2-40B4-BE49-F238E27FC236}">
                <a16:creationId xmlns:a16="http://schemas.microsoft.com/office/drawing/2014/main" id="{0CF334EE-ECBF-AA89-3E91-E8FFA37500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0445" y="-180109"/>
            <a:ext cx="12292445" cy="7038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32027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</TotalTime>
  <Words>228</Words>
  <Application>Microsoft Office PowerPoint</Application>
  <PresentationFormat>Широкоэкранный</PresentationFormat>
  <Paragraphs>15</Paragraphs>
  <Slides>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Arial</vt:lpstr>
      <vt:lpstr>Bahnschrift SemiBold</vt:lpstr>
      <vt:lpstr>Calibri</vt:lpstr>
      <vt:lpstr>Calibri Light</vt:lpstr>
      <vt:lpstr>Inter</vt:lpstr>
      <vt:lpstr>Тема Office</vt:lpstr>
      <vt:lpstr>0. Фото космоса</vt:lpstr>
      <vt:lpstr>1. Спектр</vt:lpstr>
      <vt:lpstr>1. Спектр</vt:lpstr>
      <vt:lpstr>2. Черная дыра</vt:lpstr>
      <vt:lpstr>3. Солнце</vt:lpstr>
      <vt:lpstr>3. Солнце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Roman Kulyasov</dc:creator>
  <cp:lastModifiedBy>Roman Kulyasov</cp:lastModifiedBy>
  <cp:revision>5</cp:revision>
  <dcterms:created xsi:type="dcterms:W3CDTF">2024-11-17T15:43:02Z</dcterms:created>
  <dcterms:modified xsi:type="dcterms:W3CDTF">2024-11-19T10:34:32Z</dcterms:modified>
</cp:coreProperties>
</file>