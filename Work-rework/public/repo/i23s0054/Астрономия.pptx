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4249-5590-44A9-A37E-228764AC8034}" v="78" dt="2023-12-13T21:21:48.811"/>
    <p1510:client id="{E3C1095F-A692-44B8-8284-B0FCD12B926D}" v="21" dt="2023-12-14T15:42:24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FB9CFC8-30CD-4AB7-A3B6-271F2B59FC7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199D484-8DD6-455B-B4BC-5A3C37B460BC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C26703E-9232-4A67-95E3-837C1211D1E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8A63922-7BFD-4FE7-97B9-E17FE93D57A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BB2E251-1B79-4FCD-B818-CDD22818B96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F4C12B5-E51C-4539-9533-C453EF201FC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CED4BEF-D7D4-478B-A0EE-50EB929A0DA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EEF7EAE-0CDA-4727-BB0F-55352B5FDA1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D186CF9-02C0-46ED-AC0D-E6E4DE03E63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D49125-1509-4B71-8142-20A0DA53E51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46D7C84-CFA7-42D8-BAF3-962F8FA0BA90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290D63C-D18D-4C9F-9BC6-6FB4E6EE85EE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2AB734E-8711-455D-871D-054EBE0B21E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F5A182A-07D2-47A3-9E95-7739A7AD39E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59B399C-0088-4C4F-B939-C76C293E095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7F2AC0E-A3A4-4EEA-AF54-D968B68BF6C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C9ADB8C-8E6E-4148-BCEC-33CAF7EEDDC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BF9066-A2CF-4F4F-B468-4D18D5EBDD0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DEBA1C8-8D53-4B3D-9C1A-468DDE1BA82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B7C5CA6-403C-4199-AD99-D65B6A195BD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DA985DA-F49B-4888-B255-DD2362A576E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905C3DC-3AAD-4DCB-B7F5-BD0687F6394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6C1F995-5955-4A13-BAC8-C8251129BD17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AE3FFE9-BA2C-41CD-BF3A-6E7D7C0399F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199719-3B9D-4447-BC2D-DC5E39F3DE23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3FBC30-0F5E-4D62-BEB1-E76E09816C9F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med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4" descr="https://avatars.mds.yandex.net/i?id=c300631b9ef31e32d16607df25e12d15_l-5228562-images-thumbs&amp;n=13"/>
          <p:cNvPicPr/>
          <p:nvPr/>
        </p:nvPicPr>
        <p:blipFill>
          <a:blip r:embed="rId2"/>
          <a:stretch/>
        </p:blipFill>
        <p:spPr>
          <a:xfrm>
            <a:off x="-2292120" y="0"/>
            <a:ext cx="17804160" cy="8569440"/>
          </a:xfrm>
          <a:prstGeom prst="rect">
            <a:avLst/>
          </a:prstGeom>
          <a:ln w="0">
            <a:noFill/>
          </a:ln>
        </p:spPr>
      </p:pic>
      <p:sp>
        <p:nvSpPr>
          <p:cNvPr id="83" name="Скругленный прямоугольник 3"/>
          <p:cNvSpPr/>
          <p:nvPr/>
        </p:nvSpPr>
        <p:spPr>
          <a:xfrm>
            <a:off x="988920" y="1435320"/>
            <a:ext cx="9664560" cy="2360160"/>
          </a:xfrm>
          <a:prstGeom prst="roundRect">
            <a:avLst>
              <a:gd name="adj" fmla="val 16667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246862" y="1847712"/>
            <a:ext cx="9143640" cy="153279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ru-RU" sz="5400" b="1" strike="noStrike" spc="-1">
                <a:solidFill>
                  <a:srgbClr val="000000"/>
                </a:solidFill>
                <a:latin typeface="Calibri Light"/>
              </a:rPr>
              <a:t>Крупнейшие астрономические обсерватории</a:t>
            </a:r>
            <a:endParaRPr lang="ru-RU" sz="5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Прямоугольник 6"/>
          <p:cNvSpPr/>
          <p:nvPr/>
        </p:nvSpPr>
        <p:spPr>
          <a:xfrm>
            <a:off x="3596171" y="3902505"/>
            <a:ext cx="5518080" cy="2783160"/>
          </a:xfrm>
          <a:prstGeom prst="rect">
            <a:avLst/>
          </a:prstGeom>
          <a:solidFill>
            <a:schemeClr val="bg1">
              <a:lumMod val="65000"/>
              <a:alpha val="61000"/>
            </a:schemeClr>
          </a:solidFill>
          <a:ln>
            <a:solidFill>
              <a:srgbClr val="A5A5A5"/>
            </a:solidFill>
            <a:rou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br>
              <a:rPr sz="4400" dirty="0"/>
            </a:br>
            <a:r>
              <a:rPr lang="ru-RU" sz="4000" b="1" spc="-1" dirty="0">
                <a:solidFill>
                  <a:srgbClr val="000000"/>
                </a:solidFill>
                <a:latin typeface="Calibri Light"/>
              </a:rPr>
              <a:t>Одни из первых</a:t>
            </a:r>
            <a:r>
              <a:rPr lang="ru-RU" sz="4000" b="1" strike="noStrike" spc="-1" dirty="0">
                <a:solidFill>
                  <a:srgbClr val="000000"/>
                </a:solidFill>
                <a:latin typeface="Calibri Light"/>
              </a:rPr>
              <a:t> обсерваторий</a:t>
            </a:r>
            <a:br>
              <a:rPr sz="2800" dirty="0"/>
            </a:br>
            <a:br>
              <a:rPr sz="4400" dirty="0"/>
            </a:b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Прямоугольник 4"/>
          <p:cNvSpPr/>
          <p:nvPr/>
        </p:nvSpPr>
        <p:spPr>
          <a:xfrm>
            <a:off x="103320" y="1796800"/>
            <a:ext cx="9423360" cy="13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0" strike="noStrike" spc="-1">
                <a:solidFill>
                  <a:srgbClr val="111111"/>
                </a:solidFill>
                <a:latin typeface="Montserrat"/>
              </a:rPr>
              <a:t>На Востоке и в Азии, там начали возводить первые обсерватории с куполами. В них астрономы изучали и дорабатывали труды Птолемея.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icture 4"/>
          <p:cNvSpPr/>
          <p:nvPr/>
        </p:nvSpPr>
        <p:spPr>
          <a:xfrm>
            <a:off x="-589" y="3902505"/>
            <a:ext cx="4048200" cy="2783160"/>
          </a:xfrm>
          <a:prstGeom prst="roundRect">
            <a:avLst>
              <a:gd name="adj" fmla="val 8594"/>
            </a:avLst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Прямоугольник 7"/>
          <p:cNvSpPr/>
          <p:nvPr/>
        </p:nvSpPr>
        <p:spPr>
          <a:xfrm>
            <a:off x="4059516" y="3966662"/>
            <a:ext cx="5066280" cy="26762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ru-RU" sz="2400" b="0" strike="noStrike" spc="-1" dirty="0">
                <a:solidFill>
                  <a:srgbClr val="111111"/>
                </a:solidFill>
                <a:latin typeface="Montserrat"/>
              </a:rPr>
              <a:t>Самая крупная обсерватория Средневековья находилась в Самарканде. Внук известного завоевателя </a:t>
            </a:r>
            <a:r>
              <a:rPr lang="ru-RU" sz="2400" spc="-1" dirty="0">
                <a:solidFill>
                  <a:srgbClr val="111111"/>
                </a:solidFill>
                <a:latin typeface="Montserrat"/>
              </a:rPr>
              <a:t>Тамерлана. </a:t>
            </a:r>
            <a:r>
              <a:rPr lang="ru-RU" sz="2400" b="0" strike="noStrike" spc="-1" dirty="0">
                <a:solidFill>
                  <a:srgbClr val="111111"/>
                </a:solidFill>
                <a:latin typeface="Montserrat"/>
              </a:rPr>
              <a:t>Улугбек проводил там поразительные для того времени наблюдения.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Прямоугольник 8"/>
          <p:cNvSpPr/>
          <p:nvPr/>
        </p:nvSpPr>
        <p:spPr>
          <a:xfrm>
            <a:off x="1583280" y="4663386"/>
            <a:ext cx="6180480" cy="1545480"/>
          </a:xfrm>
          <a:prstGeom prst="rect">
            <a:avLst/>
          </a:prstGeom>
          <a:solidFill>
            <a:schemeClr val="bg1">
              <a:lumMod val="65000"/>
              <a:alpha val="61000"/>
            </a:schemeClr>
          </a:solidFill>
          <a:ln>
            <a:solidFill>
              <a:srgbClr val="43729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Прямоугольник 7"/>
          <p:cNvSpPr/>
          <p:nvPr/>
        </p:nvSpPr>
        <p:spPr>
          <a:xfrm>
            <a:off x="1667880" y="3060005"/>
            <a:ext cx="6095520" cy="1464857"/>
          </a:xfrm>
          <a:prstGeom prst="rect">
            <a:avLst/>
          </a:prstGeom>
          <a:solidFill>
            <a:schemeClr val="bg1">
              <a:lumMod val="65000"/>
              <a:alpha val="61000"/>
            </a:schemeClr>
          </a:solidFill>
          <a:ln>
            <a:solidFill>
              <a:srgbClr val="43729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Calibri Light"/>
              </a:rPr>
              <a:t>Возрождение</a:t>
            </a:r>
            <a:br>
              <a:rPr sz="4400"/>
            </a:b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0" y="6490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В эту эпоху в исламских странах астрономия уже была хорошо развита, а в Европе только начали делать серьезные шаги в этом направлении. </a:t>
            </a:r>
          </a:p>
        </p:txBody>
      </p:sp>
      <p:sp>
        <p:nvSpPr>
          <p:cNvPr id="96" name="Прямоугольник 3"/>
          <p:cNvSpPr/>
          <p:nvPr/>
        </p:nvSpPr>
        <p:spPr>
          <a:xfrm>
            <a:off x="-46182" y="2155472"/>
            <a:ext cx="6615065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1" strike="noStrike" spc="-1">
                <a:solidFill>
                  <a:srgbClr val="111111"/>
                </a:solidFill>
                <a:latin typeface="Montserrat"/>
              </a:rPr>
              <a:t>Главные учёные того времени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Прямоугольник 4"/>
          <p:cNvSpPr/>
          <p:nvPr/>
        </p:nvSpPr>
        <p:spPr>
          <a:xfrm>
            <a:off x="1840345" y="4664542"/>
            <a:ext cx="6024600" cy="182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</a:rPr>
              <a:t>Тихо Браге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Тихо Браге поддерживал Коперника и выступил с инициативой построить обсерваторию в Копенгагене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Прямоугольник 5"/>
          <p:cNvSpPr/>
          <p:nvPr/>
        </p:nvSpPr>
        <p:spPr>
          <a:xfrm>
            <a:off x="1752918" y="3007069"/>
            <a:ext cx="6074644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400" b="1" strike="noStrike" spc="-1">
                <a:solidFill>
                  <a:srgbClr val="111111"/>
                </a:solidFill>
                <a:latin typeface="Montserrat"/>
              </a:rPr>
              <a:t>Кеплер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400" b="0" strike="noStrike" spc="-1">
                <a:solidFill>
                  <a:srgbClr val="111111"/>
                </a:solidFill>
                <a:latin typeface="Montserrat"/>
              </a:rPr>
              <a:t>Кеплер выяснил, что планеты двигаются вокруг солнца не по кругу, а по эллипсам.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icture 6"/>
          <p:cNvSpPr/>
          <p:nvPr/>
        </p:nvSpPr>
        <p:spPr>
          <a:xfrm>
            <a:off x="0" y="2970124"/>
            <a:ext cx="1810080" cy="1617840"/>
          </a:xfrm>
          <a:prstGeom prst="roundRect">
            <a:avLst>
              <a:gd name="adj" fmla="val 8594"/>
            </a:avLst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icture 12"/>
          <p:cNvSpPr/>
          <p:nvPr/>
        </p:nvSpPr>
        <p:spPr>
          <a:xfrm>
            <a:off x="0" y="4664542"/>
            <a:ext cx="1835280" cy="1578960"/>
          </a:xfrm>
          <a:prstGeom prst="roundRect">
            <a:avLst>
              <a:gd name="adj" fmla="val 8594"/>
            </a:avLst>
          </a:prstGeom>
          <a:blipFill rotWithShape="0">
            <a:blip r:embed="rId3"/>
            <a:srcRect/>
            <a:stretch/>
          </a:blipFill>
          <a:ln w="0"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6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Прямоугольник 10"/>
          <p:cNvSpPr/>
          <p:nvPr/>
        </p:nvSpPr>
        <p:spPr>
          <a:xfrm>
            <a:off x="2404440" y="1382760"/>
            <a:ext cx="7196400" cy="4175640"/>
          </a:xfrm>
          <a:prstGeom prst="rect">
            <a:avLst/>
          </a:prstGeom>
          <a:solidFill>
            <a:schemeClr val="bg1">
              <a:lumMod val="6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0" y="-16560"/>
            <a:ext cx="10422000" cy="1071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Calibri Light"/>
              </a:rPr>
              <a:t>Первый телескоп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2789280" y="1595291"/>
            <a:ext cx="6705000" cy="3050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</a:rPr>
              <a:t>Телескоп – изобретение знаменитого ученого Галилео Галилея. Создал он его в 1609 году. С того момента старые обсерватории уже не подходили. Их видоизменили, стали сооружать двигающиеся купола, и делали в них отверстия, через которые велись наблюдения. </a:t>
            </a:r>
          </a:p>
        </p:txBody>
      </p:sp>
      <p:sp>
        <p:nvSpPr>
          <p:cNvPr id="104" name="Picture 6"/>
          <p:cNvSpPr/>
          <p:nvPr/>
        </p:nvSpPr>
        <p:spPr>
          <a:xfrm>
            <a:off x="0" y="1371600"/>
            <a:ext cx="2788920" cy="4186800"/>
          </a:xfrm>
          <a:prstGeom prst="roundRect">
            <a:avLst>
              <a:gd name="adj" fmla="val 8594"/>
            </a:avLst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Прямоугольник 4"/>
          <p:cNvSpPr/>
          <p:nvPr/>
        </p:nvSpPr>
        <p:spPr>
          <a:xfrm>
            <a:off x="2273400" y="4713120"/>
            <a:ext cx="7750800" cy="1684440"/>
          </a:xfrm>
          <a:prstGeom prst="rect">
            <a:avLst/>
          </a:prstGeom>
          <a:solidFill>
            <a:schemeClr val="bg1">
              <a:lumMod val="6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Picture 4"/>
          <p:cNvSpPr/>
          <p:nvPr/>
        </p:nvSpPr>
        <p:spPr>
          <a:xfrm>
            <a:off x="1080" y="4704480"/>
            <a:ext cx="2552400" cy="1701360"/>
          </a:xfrm>
          <a:prstGeom prst="roundRect">
            <a:avLst>
              <a:gd name="adj" fmla="val 8594"/>
            </a:avLst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Скругленный прямоугольник 10"/>
          <p:cNvSpPr/>
          <p:nvPr/>
        </p:nvSpPr>
        <p:spPr>
          <a:xfrm>
            <a:off x="99000" y="4713120"/>
            <a:ext cx="2360160" cy="60372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Прямоугольник 7"/>
          <p:cNvSpPr/>
          <p:nvPr/>
        </p:nvSpPr>
        <p:spPr>
          <a:xfrm>
            <a:off x="2366280" y="2586960"/>
            <a:ext cx="7657920" cy="1689480"/>
          </a:xfrm>
          <a:prstGeom prst="rect">
            <a:avLst/>
          </a:prstGeom>
          <a:solidFill>
            <a:schemeClr val="bg1">
              <a:lumMod val="6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0" y="-16560"/>
            <a:ext cx="10422000" cy="1071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Calibri Light"/>
              </a:rPr>
              <a:t>Первые обсерватории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0" y="736560"/>
            <a:ext cx="10515240" cy="1467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Первые обновленные учреждения – Парижская и Гринвичская. Последняя была построена в конце 17-го столетия, но до сих пор считается одной из самых крупных на планете.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icture 2"/>
          <p:cNvSpPr/>
          <p:nvPr/>
        </p:nvSpPr>
        <p:spPr>
          <a:xfrm>
            <a:off x="0" y="2533320"/>
            <a:ext cx="2553480" cy="1755360"/>
          </a:xfrm>
          <a:prstGeom prst="roundRect">
            <a:avLst>
              <a:gd name="adj" fmla="val 8594"/>
            </a:avLst>
          </a:prstGeom>
          <a:blipFill rotWithShape="0">
            <a:blip r:embed="rId3"/>
            <a:srcRect/>
            <a:stretch/>
          </a:blipFill>
          <a:ln w="0"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Прямоугольник 3"/>
          <p:cNvSpPr/>
          <p:nvPr/>
        </p:nvSpPr>
        <p:spPr>
          <a:xfrm>
            <a:off x="2537640" y="4955400"/>
            <a:ext cx="756468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21 июня 1667 года, в день летнего солнцестояния, очертили площадку с расчетом, что Парижский меридиан пройдет по центру обсерватории. Здание построили, и 1 мая 1682 года король Людовик ХIV торжественно открыл Королевскую обсерваторию.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Прямоугольник 6"/>
          <p:cNvSpPr/>
          <p:nvPr/>
        </p:nvSpPr>
        <p:spPr>
          <a:xfrm>
            <a:off x="2537640" y="2538902"/>
            <a:ext cx="777636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800" b="0" strike="noStrike" spc="-1">
                <a:solidFill>
                  <a:srgbClr val="333333"/>
                </a:solidFill>
                <a:latin typeface="Open Sans"/>
              </a:rPr>
              <a:t>Королевская обсерватория Гринвич была построена в далеком 1675 году и является старейшим научным учреждением Лондона. Она находится в самом центре Гринвичского парка на холме и знаменита тем, что здесь находится нулевой меридиан, и посетители Обсерватории могут постоять одновременно в двух полушариях</a:t>
            </a:r>
            <a:br>
              <a:rPr sz="1800"/>
            </a:br>
            <a:br>
              <a:rPr sz="1800"/>
            </a:b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Скругленный прямоугольник 5"/>
          <p:cNvSpPr/>
          <p:nvPr/>
        </p:nvSpPr>
        <p:spPr>
          <a:xfrm>
            <a:off x="91800" y="2533320"/>
            <a:ext cx="2360160" cy="622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Прямоугольник 8"/>
          <p:cNvSpPr/>
          <p:nvPr/>
        </p:nvSpPr>
        <p:spPr>
          <a:xfrm>
            <a:off x="45720" y="2482560"/>
            <a:ext cx="23659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гринвичская обсерватория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Прямоугольник 9"/>
          <p:cNvSpPr/>
          <p:nvPr/>
        </p:nvSpPr>
        <p:spPr>
          <a:xfrm>
            <a:off x="365760" y="4670640"/>
            <a:ext cx="1826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парижская обсерватория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Прямоугольник 4"/>
          <p:cNvSpPr/>
          <p:nvPr/>
        </p:nvSpPr>
        <p:spPr>
          <a:xfrm>
            <a:off x="1333440" y="1306440"/>
            <a:ext cx="10858320" cy="4065120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0" y="-190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Calibri Light"/>
              </a:rPr>
              <a:t>Как устроена современная обсерватория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8040" y="1365407"/>
            <a:ext cx="6093360" cy="3810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Современные наземные обсерватории – это цилиндровые или многогранные башни с куполами, внутри которых установлены оптические телескопы или радиотелескопы. Строят такие здания обычно в местах, удаленных от города, чтобы никакие факторы не мешали работе наблюдательных приборов.</a:t>
            </a:r>
          </a:p>
        </p:txBody>
      </p:sp>
      <p:sp>
        <p:nvSpPr>
          <p:cNvPr id="120" name="Picture 4"/>
          <p:cNvSpPr/>
          <p:nvPr/>
        </p:nvSpPr>
        <p:spPr>
          <a:xfrm>
            <a:off x="0" y="1306440"/>
            <a:ext cx="6099480" cy="4065120"/>
          </a:xfrm>
          <a:prstGeom prst="roundRect">
            <a:avLst>
              <a:gd name="adj" fmla="val 8594"/>
            </a:avLst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Прямоугольник 11"/>
          <p:cNvSpPr/>
          <p:nvPr/>
        </p:nvSpPr>
        <p:spPr>
          <a:xfrm>
            <a:off x="4181400" y="4304880"/>
            <a:ext cx="7934400" cy="2445840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Прямоугольник 5"/>
          <p:cNvSpPr/>
          <p:nvPr/>
        </p:nvSpPr>
        <p:spPr>
          <a:xfrm>
            <a:off x="1066680" y="1135800"/>
            <a:ext cx="11049120" cy="2817360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Picture 2"/>
          <p:cNvSpPr/>
          <p:nvPr/>
        </p:nvSpPr>
        <p:spPr>
          <a:xfrm>
            <a:off x="0" y="1135800"/>
            <a:ext cx="3834720" cy="2817360"/>
          </a:xfrm>
          <a:prstGeom prst="roundRect">
            <a:avLst>
              <a:gd name="adj" fmla="val 8594"/>
            </a:avLst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Скругленный прямоугольник 10"/>
          <p:cNvSpPr/>
          <p:nvPr/>
        </p:nvSpPr>
        <p:spPr>
          <a:xfrm>
            <a:off x="75960" y="1150200"/>
            <a:ext cx="3666960" cy="83952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Picture 11"/>
          <p:cNvSpPr/>
          <p:nvPr/>
        </p:nvSpPr>
        <p:spPr>
          <a:xfrm>
            <a:off x="0" y="4280400"/>
            <a:ext cx="4391640" cy="2470680"/>
          </a:xfrm>
          <a:prstGeom prst="roundRect">
            <a:avLst>
              <a:gd name="adj" fmla="val 8594"/>
            </a:avLst>
          </a:prstGeom>
          <a:blipFill rotWithShape="0">
            <a:blip r:embed="rId3"/>
            <a:srcRect/>
            <a:stretch/>
          </a:blipFill>
          <a:ln w="0"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Скругленный прямоугольник 9"/>
          <p:cNvSpPr/>
          <p:nvPr/>
        </p:nvSpPr>
        <p:spPr>
          <a:xfrm>
            <a:off x="50040" y="4304880"/>
            <a:ext cx="4291920" cy="74376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Calibri Light"/>
              </a:rPr>
              <a:t>Обсерватории России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Прямоугольник 4"/>
          <p:cNvSpPr/>
          <p:nvPr/>
        </p:nvSpPr>
        <p:spPr>
          <a:xfrm>
            <a:off x="3834720" y="1719360"/>
            <a:ext cx="7956360" cy="173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-apple-system"/>
              </a:rPr>
              <a:t>Солнечный телескоп на побережье озера Байкал. Байкальская астрофизическая обсерватория была основана в 1980 году на окраине поселка Листвянка для наблюдения за солнечной активностью. Из-за особенного микроклимата в этом регионе четко видны солнечные вспышки и пятна на звезде, поэтому  ученые могут прогнозировать активность Солнца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Прямоугольник 6"/>
          <p:cNvSpPr/>
          <p:nvPr/>
        </p:nvSpPr>
        <p:spPr>
          <a:xfrm>
            <a:off x="671400" y="1143360"/>
            <a:ext cx="254052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400" b="1" strike="noStrike" spc="-1">
                <a:solidFill>
                  <a:srgbClr val="000000"/>
                </a:solidFill>
                <a:latin typeface="-apple-system"/>
              </a:rPr>
              <a:t>Байкальская обсерватория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Прямоугольник 7"/>
          <p:cNvSpPr/>
          <p:nvPr/>
        </p:nvSpPr>
        <p:spPr>
          <a:xfrm>
            <a:off x="75960" y="4418280"/>
            <a:ext cx="60955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400" b="1" strike="noStrike" spc="-1">
                <a:solidFill>
                  <a:srgbClr val="000000"/>
                </a:solidFill>
                <a:latin typeface="-apple-system"/>
              </a:rPr>
              <a:t>Специальная астрофизическая обсерватория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Прямоугольник 8"/>
          <p:cNvSpPr/>
          <p:nvPr/>
        </p:nvSpPr>
        <p:spPr>
          <a:xfrm>
            <a:off x="4392000" y="4280400"/>
            <a:ext cx="7876800" cy="25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-apple-system"/>
              </a:rPr>
              <a:t>крупнейшая обсерватория в России, основанная в 1966 году. Здесь можно увидеть гигантский телескоп РАТАН-600 с диаметром зеркал около 600 метров и весом 650 тонн. Другого такого нет в мире!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-apple-system"/>
              </a:rPr>
              <a:t>Место для обсерватории подходит идеально: на Кавказе именно это место считается самым темным и чистым, и звездное небо видно просто великолепно.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-apple-system"/>
              </a:rPr>
              <a:t>Внутри архызской обсерватории сохранились интересные советские мозаики, где можно разглядеть и звезды, и космонавтов, и хвостатые кометы.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431</Words>
  <Application>Microsoft Office PowerPoint</Application>
  <PresentationFormat>Широкоэкранный</PresentationFormat>
  <Paragraphs>33</Paragraphs>
  <Slides>7</Slides>
  <Notes>0</Notes>
  <HiddenSlides>0</HiddenSlide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Тема Office</vt:lpstr>
      <vt:lpstr>Тема Office</vt:lpstr>
      <vt:lpstr>Крупнейшие астрономические обсерватории</vt:lpstr>
      <vt:lpstr> Одни из первых обсерваторий  </vt:lpstr>
      <vt:lpstr>Возрождение </vt:lpstr>
      <vt:lpstr>Первый телескоп</vt:lpstr>
      <vt:lpstr>Первые обсерватории</vt:lpstr>
      <vt:lpstr>Как устроена современная обсерватория</vt:lpstr>
      <vt:lpstr>Обсерватории России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Крупнейшие астрономические обсерватории</dc:title>
  <dc:subject/>
  <dc:creator>nai10</dc:creator>
  <dc:description/>
  <cp:lastModifiedBy/>
  <cp:revision>71</cp:revision>
  <dcterms:created xsi:type="dcterms:W3CDTF">2023-11-25T08:00:41Z</dcterms:created>
  <dcterms:modified xsi:type="dcterms:W3CDTF">2023-12-14T15:42:35Z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7</vt:i4>
  </property>
</Properties>
</file>